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2" Type="http://schemas.openxmlformats.org/officeDocument/2006/relationships/custom-properties" Target="docProps/custom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Gill Sans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8" Type="http://schemas.openxmlformats.org/officeDocument/2006/relationships/slide" Target="slides/slide3.xml"/><Relationship Id="rId18" Type="http://schemas.openxmlformats.org/officeDocument/2006/relationships/customXml" Target="../customXml/item2.xml"/><Relationship Id="rId3" Type="http://schemas.openxmlformats.org/officeDocument/2006/relationships/presProps" Target="presProps.xml"/><Relationship Id="rId12" Type="http://schemas.openxmlformats.org/officeDocument/2006/relationships/slide" Target="slides/slide7.xml"/><Relationship Id="rId7" Type="http://schemas.openxmlformats.org/officeDocument/2006/relationships/slide" Target="slides/slide2.xml"/><Relationship Id="rId17" Type="http://schemas.openxmlformats.org/officeDocument/2006/relationships/customXml" Target="../customXml/item1.xml"/><Relationship Id="rId2" Type="http://schemas.openxmlformats.org/officeDocument/2006/relationships/viewProps" Target="viewProps.xml"/><Relationship Id="rId16" Type="http://schemas.openxmlformats.org/officeDocument/2006/relationships/font" Target="fonts/GillSans-bold.fntdata"/><Relationship Id="rId11" Type="http://schemas.openxmlformats.org/officeDocument/2006/relationships/slide" Target="slides/slide6.xml"/><Relationship Id="rId1" Type="http://schemas.openxmlformats.org/officeDocument/2006/relationships/theme" Target="theme/theme1.xml"/><Relationship Id="rId6" Type="http://schemas.openxmlformats.org/officeDocument/2006/relationships/slide" Target="slides/slide1.xml"/><Relationship Id="rId15" Type="http://schemas.openxmlformats.org/officeDocument/2006/relationships/font" Target="fonts/GillSans-regular.fntdata"/><Relationship Id="rId5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c026ec3bc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c026ec3bc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c10a476be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c10a476be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c02c41ff8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c02c41ff8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c026ec3bca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c026ec3bca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c026ec3bca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c026ec3bca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c026ec3bca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c026ec3bca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c10a476be3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c10a476be3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c026ec3bca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c026ec3bc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Font typeface="Gill Sans"/>
              <a:buNone/>
              <a:defRPr sz="5200">
                <a:latin typeface="Gill Sans"/>
                <a:ea typeface="Gill Sans"/>
                <a:cs typeface="Gill Sans"/>
                <a:sym typeface="Gill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Gill Sans"/>
              <a:buNone/>
              <a:defRPr sz="2800">
                <a:latin typeface="Gill Sans"/>
                <a:ea typeface="Gill Sans"/>
                <a:cs typeface="Gill Sans"/>
                <a:sym typeface="Gill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Font typeface="Gill Sans"/>
              <a:buNone/>
              <a:defRPr sz="3600">
                <a:latin typeface="Gill Sans"/>
                <a:ea typeface="Gill Sans"/>
                <a:cs typeface="Gill Sans"/>
                <a:sym typeface="Gill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Gill Sans"/>
              <a:buNone/>
              <a:defRPr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Gill Sans"/>
              <a:buChar char="●"/>
              <a:defRPr>
                <a:latin typeface="Gill Sans"/>
                <a:ea typeface="Gill Sans"/>
                <a:cs typeface="Gill Sans"/>
                <a:sym typeface="Gill Sans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Gill Sans"/>
              <a:buChar char="○"/>
              <a:defRPr>
                <a:latin typeface="Gill Sans"/>
                <a:ea typeface="Gill Sans"/>
                <a:cs typeface="Gill Sans"/>
                <a:sym typeface="Gill Sans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Gill Sans"/>
              <a:buChar char="■"/>
              <a:defRPr>
                <a:latin typeface="Gill Sans"/>
                <a:ea typeface="Gill Sans"/>
                <a:cs typeface="Gill Sans"/>
                <a:sym typeface="Gill Sans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Gill Sans"/>
              <a:buChar char="●"/>
              <a:defRPr>
                <a:latin typeface="Gill Sans"/>
                <a:ea typeface="Gill Sans"/>
                <a:cs typeface="Gill Sans"/>
                <a:sym typeface="Gill Sans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ill Sans"/>
              <a:buNone/>
              <a:defRPr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jp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Relationship Id="rId5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CubeSat </a:t>
            </a:r>
            <a:r>
              <a:rPr lang="en"/>
              <a:t>Mid-Semester</a:t>
            </a:r>
            <a:r>
              <a:rPr lang="en"/>
              <a:t> Update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Gautaman Asirwatham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263400" y="589800"/>
            <a:ext cx="4049400" cy="78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ill Sans"/>
                <a:ea typeface="Gill Sans"/>
                <a:cs typeface="Gill Sans"/>
                <a:sym typeface="Gill Sans"/>
              </a:rPr>
              <a:t>Rig Design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0400" y="145663"/>
            <a:ext cx="3639127" cy="48521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/>
          <p:cNvPicPr preferRelativeResize="0"/>
          <p:nvPr/>
        </p:nvPicPr>
        <p:blipFill rotWithShape="1">
          <a:blip r:embed="rId4">
            <a:alphaModFix/>
          </a:blip>
          <a:srcRect b="0" l="10260" r="11357" t="8441"/>
          <a:stretch/>
        </p:blipFill>
        <p:spPr>
          <a:xfrm>
            <a:off x="679200" y="1482300"/>
            <a:ext cx="3217800" cy="351447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/>
          <p:nvPr/>
        </p:nvSpPr>
        <p:spPr>
          <a:xfrm>
            <a:off x="2957175" y="3723957"/>
            <a:ext cx="1098625" cy="429250"/>
          </a:xfrm>
          <a:custGeom>
            <a:rect b="b" l="l" r="r" t="t"/>
            <a:pathLst>
              <a:path extrusionOk="0" h="17170" w="43945">
                <a:moveTo>
                  <a:pt x="0" y="17170"/>
                </a:moveTo>
                <a:cubicBezTo>
                  <a:pt x="8982" y="6905"/>
                  <a:pt x="25978" y="-2032"/>
                  <a:pt x="38514" y="3344"/>
                </a:cubicBezTo>
                <a:cubicBezTo>
                  <a:pt x="39958" y="3963"/>
                  <a:pt x="42091" y="3915"/>
                  <a:pt x="42794" y="5320"/>
                </a:cubicBezTo>
                <a:cubicBezTo>
                  <a:pt x="44033" y="7797"/>
                  <a:pt x="33112" y="9928"/>
                  <a:pt x="35881" y="9928"/>
                </a:cubicBezTo>
                <a:cubicBezTo>
                  <a:pt x="38986" y="9928"/>
                  <a:pt x="42628" y="7874"/>
                  <a:pt x="43781" y="4990"/>
                </a:cubicBezTo>
                <a:cubicBezTo>
                  <a:pt x="44438" y="3347"/>
                  <a:pt x="40589" y="-1296"/>
                  <a:pt x="41148" y="382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4" name="Google Shape;64;p14"/>
          <p:cNvSpPr/>
          <p:nvPr/>
        </p:nvSpPr>
        <p:spPr>
          <a:xfrm>
            <a:off x="3478748" y="2266934"/>
            <a:ext cx="408375" cy="1030400"/>
          </a:xfrm>
          <a:custGeom>
            <a:rect b="b" l="l" r="r" t="t"/>
            <a:pathLst>
              <a:path extrusionOk="0" h="41216" w="16335">
                <a:moveTo>
                  <a:pt x="7117" y="41216"/>
                </a:moveTo>
                <a:cubicBezTo>
                  <a:pt x="568" y="34667"/>
                  <a:pt x="534" y="23484"/>
                  <a:pt x="534" y="14223"/>
                </a:cubicBezTo>
                <a:cubicBezTo>
                  <a:pt x="534" y="9568"/>
                  <a:pt x="-1533" y="2707"/>
                  <a:pt x="2509" y="397"/>
                </a:cubicBezTo>
                <a:cubicBezTo>
                  <a:pt x="6215" y="-1720"/>
                  <a:pt x="10377" y="5236"/>
                  <a:pt x="11726" y="9285"/>
                </a:cubicBezTo>
                <a:cubicBezTo>
                  <a:pt x="12046" y="10245"/>
                  <a:pt x="13344" y="11928"/>
                  <a:pt x="12384" y="12248"/>
                </a:cubicBezTo>
                <a:cubicBezTo>
                  <a:pt x="10984" y="12715"/>
                  <a:pt x="10321" y="10104"/>
                  <a:pt x="9093" y="9285"/>
                </a:cubicBezTo>
                <a:cubicBezTo>
                  <a:pt x="8227" y="8707"/>
                  <a:pt x="6130" y="7257"/>
                  <a:pt x="6130" y="8298"/>
                </a:cubicBezTo>
                <a:cubicBezTo>
                  <a:pt x="6130" y="9578"/>
                  <a:pt x="8357" y="9563"/>
                  <a:pt x="9422" y="10273"/>
                </a:cubicBezTo>
                <a:cubicBezTo>
                  <a:pt x="10443" y="10954"/>
                  <a:pt x="11524" y="12216"/>
                  <a:pt x="12714" y="11919"/>
                </a:cubicBezTo>
                <a:cubicBezTo>
                  <a:pt x="16016" y="11094"/>
                  <a:pt x="14446" y="5203"/>
                  <a:pt x="16335" y="2372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5" name="Google Shape;65;p14"/>
          <p:cNvSpPr/>
          <p:nvPr/>
        </p:nvSpPr>
        <p:spPr>
          <a:xfrm rot="-550700">
            <a:off x="3763618" y="2745050"/>
            <a:ext cx="855757" cy="74129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/>
          <p:nvPr/>
        </p:nvSpPr>
        <p:spPr>
          <a:xfrm rot="-688035">
            <a:off x="4518458" y="2724443"/>
            <a:ext cx="107139" cy="115081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85675"/>
            <a:ext cx="8520600" cy="495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6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50">
                <a:solidFill>
                  <a:srgbClr val="0D0D0D"/>
                </a:solidFill>
                <a:highlight>
                  <a:srgbClr val="FFFFFF"/>
                </a:highlight>
              </a:rPr>
              <a:t>Design in Words:</a:t>
            </a:r>
            <a:endParaRPr b="1" sz="1650">
              <a:solidFill>
                <a:srgbClr val="0D0D0D"/>
              </a:solidFill>
              <a:highlight>
                <a:srgbClr val="FFFFFF"/>
              </a:highlight>
              <a:latin typeface="Gill Sans"/>
              <a:ea typeface="Gill Sans"/>
              <a:cs typeface="Gill Sans"/>
              <a:sym typeface="Gill Sans"/>
            </a:endParaRPr>
          </a:p>
          <a:p>
            <a:pPr indent="-350735" lvl="0" marL="457200" rtl="0" algn="l">
              <a:spcBef>
                <a:spcPts val="400"/>
              </a:spcBef>
              <a:spcAft>
                <a:spcPts val="0"/>
              </a:spcAft>
              <a:buClr>
                <a:srgbClr val="0D0D0D"/>
              </a:buClr>
              <a:buSzPts val="1923"/>
              <a:buFont typeface="Gill Sans"/>
              <a:buChar char="●"/>
            </a:pPr>
            <a:r>
              <a:rPr lang="en" sz="1923">
                <a:solidFill>
                  <a:srgbClr val="0D0D0D"/>
                </a:solidFill>
                <a:highlight>
                  <a:srgbClr val="FFFFFF"/>
                </a:highlight>
                <a:latin typeface="Gill Sans"/>
                <a:ea typeface="Gill Sans"/>
                <a:cs typeface="Gill Sans"/>
                <a:sym typeface="Gill Sans"/>
              </a:rPr>
              <a:t>A </a:t>
            </a:r>
            <a:r>
              <a:rPr lang="en" sz="1923">
                <a:solidFill>
                  <a:srgbClr val="0D0D0D"/>
                </a:solidFill>
                <a:highlight>
                  <a:srgbClr val="FFFFFF"/>
                </a:highlight>
              </a:rPr>
              <a:t>(name) </a:t>
            </a:r>
            <a:r>
              <a:rPr lang="en" sz="1923">
                <a:solidFill>
                  <a:srgbClr val="0D0D0D"/>
                </a:solidFill>
                <a:highlight>
                  <a:srgbClr val="FFFFFF"/>
                </a:highlight>
                <a:latin typeface="Gill Sans"/>
                <a:ea typeface="Gill Sans"/>
                <a:cs typeface="Gill Sans"/>
                <a:sym typeface="Gill Sans"/>
              </a:rPr>
              <a:t>tripod provides a stable base for the antennae rig. It w</a:t>
            </a:r>
            <a:r>
              <a:rPr lang="en" sz="1923">
                <a:solidFill>
                  <a:srgbClr val="0D0D0D"/>
                </a:solidFill>
                <a:highlight>
                  <a:srgbClr val="FFFFFF"/>
                </a:highlight>
              </a:rPr>
              <a:t>ill be fully extended to (12?) feet.</a:t>
            </a:r>
            <a:endParaRPr sz="1923">
              <a:solidFill>
                <a:srgbClr val="0D0D0D"/>
              </a:solidFill>
              <a:highlight>
                <a:srgbClr val="FFFFFF"/>
              </a:highlight>
              <a:latin typeface="Gill Sans"/>
              <a:ea typeface="Gill Sans"/>
              <a:cs typeface="Gill Sans"/>
              <a:sym typeface="Gill Sans"/>
            </a:endParaRPr>
          </a:p>
          <a:p>
            <a:pPr indent="-350735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923"/>
              <a:buFont typeface="Gill Sans"/>
              <a:buChar char="●"/>
            </a:pPr>
            <a:r>
              <a:rPr lang="en" sz="1923">
                <a:solidFill>
                  <a:srgbClr val="0D0D0D"/>
                </a:solidFill>
                <a:highlight>
                  <a:srgbClr val="FFFFFF"/>
                </a:highlight>
                <a:latin typeface="Gill Sans"/>
                <a:ea typeface="Gill Sans"/>
                <a:cs typeface="Gill Sans"/>
                <a:sym typeface="Gill Sans"/>
              </a:rPr>
              <a:t>Mounted on top of the tripod is a motor mount holding a Nema 23 motor. The motor is positioned so its shaft points upwards, controlling the antenna's horizontal rotation around the base.</a:t>
            </a:r>
            <a:endParaRPr sz="1923">
              <a:solidFill>
                <a:srgbClr val="0D0D0D"/>
              </a:solidFill>
              <a:highlight>
                <a:srgbClr val="FFFFFF"/>
              </a:highlight>
              <a:latin typeface="Gill Sans"/>
              <a:ea typeface="Gill Sans"/>
              <a:cs typeface="Gill Sans"/>
              <a:sym typeface="Gill Sans"/>
            </a:endParaRPr>
          </a:p>
          <a:p>
            <a:pPr indent="-350735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923"/>
              <a:buFont typeface="Roboto"/>
              <a:buChar char="●"/>
            </a:pPr>
            <a:r>
              <a:rPr lang="en" sz="1903">
                <a:solidFill>
                  <a:srgbClr val="0D0D0D"/>
                </a:solidFill>
                <a:highlight>
                  <a:schemeClr val="lt1"/>
                </a:highlight>
              </a:rPr>
              <a:t>Next an interfacing piece, connects an</a:t>
            </a:r>
            <a:r>
              <a:rPr lang="en" sz="1903">
                <a:solidFill>
                  <a:srgbClr val="0D0D0D"/>
                </a:solidFill>
                <a:highlight>
                  <a:schemeClr val="lt1"/>
                </a:highlight>
              </a:rPr>
              <a:t>other Nema 23 motor mount and motor perpendicular to the first motor's shaft, controlling the antenna's vertical angle.</a:t>
            </a:r>
            <a:endParaRPr sz="1923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949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904"/>
              <a:buFont typeface="Gill Sans"/>
              <a:buChar char="●"/>
            </a:pPr>
            <a:r>
              <a:rPr lang="en" sz="1903">
                <a:solidFill>
                  <a:srgbClr val="0D0D0D"/>
                </a:solidFill>
                <a:highlight>
                  <a:srgbClr val="FFFFFF"/>
                </a:highlight>
                <a:latin typeface="Gill Sans"/>
                <a:ea typeface="Gill Sans"/>
                <a:cs typeface="Gill Sans"/>
                <a:sym typeface="Gill Sans"/>
              </a:rPr>
              <a:t>This motor's shaft extends to a junction piece which supports the antenna and accommodates a zeroing arm. In its fully vertical or zero position, the antenna points upwards, and the zeroing arm is strategically positioned to trigger </a:t>
            </a:r>
            <a:r>
              <a:rPr lang="en" sz="1903">
                <a:solidFill>
                  <a:srgbClr val="0D0D0D"/>
                </a:solidFill>
                <a:highlight>
                  <a:srgbClr val="FFFFFF"/>
                </a:highlight>
              </a:rPr>
              <a:t>an Omron</a:t>
            </a:r>
            <a:r>
              <a:rPr lang="en" sz="1903">
                <a:solidFill>
                  <a:srgbClr val="0D0D0D"/>
                </a:solidFill>
                <a:highlight>
                  <a:srgbClr val="FFFFFF"/>
                </a:highlight>
                <a:latin typeface="Gill Sans"/>
                <a:ea typeface="Gill Sans"/>
                <a:cs typeface="Gill Sans"/>
                <a:sym typeface="Gill Sans"/>
              </a:rPr>
              <a:t> switch along the tripod pole.</a:t>
            </a:r>
            <a:endParaRPr sz="1903">
              <a:solidFill>
                <a:srgbClr val="0D0D0D"/>
              </a:solidFill>
              <a:highlight>
                <a:srgbClr val="FFFFFF"/>
              </a:highlight>
              <a:latin typeface="Gill Sans"/>
              <a:ea typeface="Gill Sans"/>
              <a:cs typeface="Gill Sans"/>
              <a:sym typeface="Gill Sans"/>
            </a:endParaRPr>
          </a:p>
          <a:p>
            <a:pPr indent="-34949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904"/>
              <a:buFont typeface="Gill Sans"/>
              <a:buChar char="●"/>
            </a:pPr>
            <a:r>
              <a:rPr lang="en" sz="1903">
                <a:solidFill>
                  <a:srgbClr val="0D0D0D"/>
                </a:solidFill>
                <a:highlight>
                  <a:srgbClr val="FFFFFF"/>
                </a:highlight>
                <a:latin typeface="Gill Sans"/>
                <a:ea typeface="Gill Sans"/>
                <a:cs typeface="Gill Sans"/>
                <a:sym typeface="Gill Sans"/>
              </a:rPr>
              <a:t>The design of the junction ensures an ample offset, allowing the antenna to rotate unobstructed in all directions—both elevation above the horizon and in a complete 360-degree azimuth circle.</a:t>
            </a:r>
            <a:endParaRPr sz="1903">
              <a:solidFill>
                <a:srgbClr val="0D0D0D"/>
              </a:solidFill>
              <a:highlight>
                <a:srgbClr val="FFFFFF"/>
              </a:highlight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15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/>
          <p:cNvPicPr preferRelativeResize="0"/>
          <p:nvPr/>
        </p:nvPicPr>
        <p:blipFill rotWithShape="1">
          <a:blip r:embed="rId3">
            <a:alphaModFix/>
          </a:blip>
          <a:srcRect b="0" l="0" r="59610" t="0"/>
          <a:stretch/>
        </p:blipFill>
        <p:spPr>
          <a:xfrm>
            <a:off x="103988" y="1392801"/>
            <a:ext cx="2177775" cy="235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10073" y="802635"/>
            <a:ext cx="2483375" cy="3174027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 txBox="1"/>
          <p:nvPr/>
        </p:nvSpPr>
        <p:spPr>
          <a:xfrm>
            <a:off x="604275" y="964725"/>
            <a:ext cx="11772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Nema 23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3715650" y="390125"/>
            <a:ext cx="10722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DM556T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81475" y="4066650"/>
            <a:ext cx="2859300" cy="7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$15.65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Holding torque = 0.6 N/m!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2940775" y="4032450"/>
            <a:ext cx="3142500" cy="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$20.86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Micro Stepping</a:t>
            </a:r>
            <a:r>
              <a:rPr lang="en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up to 25,000!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82" name="Google Shape;82;p16"/>
          <p:cNvPicPr preferRelativeResize="0"/>
          <p:nvPr/>
        </p:nvPicPr>
        <p:blipFill rotWithShape="1">
          <a:blip r:embed="rId5">
            <a:alphaModFix/>
          </a:blip>
          <a:srcRect b="0" l="0" r="48376" t="51449"/>
          <a:stretch/>
        </p:blipFill>
        <p:spPr>
          <a:xfrm>
            <a:off x="6538350" y="1575625"/>
            <a:ext cx="1972549" cy="199224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 txBox="1"/>
          <p:nvPr/>
        </p:nvSpPr>
        <p:spPr>
          <a:xfrm>
            <a:off x="6659300" y="842225"/>
            <a:ext cx="18516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Gill Sans"/>
                <a:ea typeface="Gill Sans"/>
                <a:cs typeface="Gill Sans"/>
                <a:sym typeface="Gill Sans"/>
              </a:rPr>
              <a:t>Omron SS5GL2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6603000" y="4066650"/>
            <a:ext cx="2229300" cy="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$9 for 5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Rolling Lever Arm!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Interfacing / Design</a:t>
            </a:r>
            <a:endParaRPr/>
          </a:p>
        </p:txBody>
      </p:sp>
      <p:sp>
        <p:nvSpPr>
          <p:cNvPr id="90" name="Google Shape;90;p17"/>
          <p:cNvSpPr txBox="1"/>
          <p:nvPr>
            <p:ph idx="1" type="body"/>
          </p:nvPr>
        </p:nvSpPr>
        <p:spPr>
          <a:xfrm>
            <a:off x="311700" y="1373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Motor mounts specifically for the Nema 23 are available for 4$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 want to find high </a:t>
            </a:r>
            <a:r>
              <a:rPr lang="en">
                <a:solidFill>
                  <a:schemeClr val="dk1"/>
                </a:solidFill>
              </a:rPr>
              <a:t>precision</a:t>
            </a:r>
            <a:r>
              <a:rPr lang="en">
                <a:solidFill>
                  <a:schemeClr val="dk1"/>
                </a:solidFill>
              </a:rPr>
              <a:t> parts to buy like these where possible but: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May need to design an adapter plate for connecting the tripod to the motor mount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May n</a:t>
            </a:r>
            <a:r>
              <a:rPr lang="en">
                <a:solidFill>
                  <a:schemeClr val="dk1"/>
                </a:solidFill>
              </a:rPr>
              <a:t>eed to design a bracket or plate for connecting the motor mounts to each other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May need to design the junction between the elevation motor, antennae, and zeroing arm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91" name="Google Shape;9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7177" y="445025"/>
            <a:ext cx="1177276" cy="127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Potential Parts</a:t>
            </a:r>
            <a:endParaRPr/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311700" y="1341825"/>
            <a:ext cx="4789200" cy="322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rig may not be stable and </a:t>
            </a:r>
            <a:r>
              <a:rPr lang="en">
                <a:solidFill>
                  <a:schemeClr val="dk1"/>
                </a:solidFill>
              </a:rPr>
              <a:t>require</a:t>
            </a:r>
            <a:r>
              <a:rPr lang="en">
                <a:solidFill>
                  <a:schemeClr val="dk1"/>
                </a:solidFill>
              </a:rPr>
              <a:t> a base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The motors may create electrical interference and require insulation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98" name="Google Shape;9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2900" y="1424050"/>
            <a:ext cx="2366075" cy="149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63825" y="3330300"/>
            <a:ext cx="3324225" cy="13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CAD</a:t>
            </a:r>
            <a:endParaRPr/>
          </a:p>
        </p:txBody>
      </p:sp>
      <p:sp>
        <p:nvSpPr>
          <p:cNvPr id="105" name="Google Shape;105;p1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OnShape (WIP)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06" name="Google Shape;10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4275" y="2894074"/>
            <a:ext cx="3294426" cy="204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42325" y="180875"/>
            <a:ext cx="3198331" cy="2589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Setup Elements</a:t>
            </a:r>
            <a:endParaRPr/>
          </a:p>
        </p:txBody>
      </p:sp>
      <p:sp>
        <p:nvSpPr>
          <p:cNvPr id="113" name="Google Shape;113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Power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Controller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Need to decide according to the </a:t>
            </a:r>
            <a:r>
              <a:rPr lang="en">
                <a:solidFill>
                  <a:schemeClr val="dk1"/>
                </a:solidFill>
              </a:rPr>
              <a:t>ground station</a:t>
            </a:r>
            <a:r>
              <a:rPr lang="en">
                <a:solidFill>
                  <a:schemeClr val="dk1"/>
                </a:solidFill>
              </a:rPr>
              <a:t> requirements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Controls</a:t>
            </a:r>
            <a:endParaRPr/>
          </a:p>
        </p:txBody>
      </p:sp>
      <p:pic>
        <p:nvPicPr>
          <p:cNvPr id="119" name="Google Shape;119;p21"/>
          <p:cNvPicPr preferRelativeResize="0"/>
          <p:nvPr/>
        </p:nvPicPr>
        <p:blipFill rotWithShape="1">
          <a:blip r:embed="rId3">
            <a:alphaModFix/>
          </a:blip>
          <a:srcRect b="24353" l="1662" r="1662" t="15095"/>
          <a:stretch/>
        </p:blipFill>
        <p:spPr>
          <a:xfrm>
            <a:off x="152400" y="1388050"/>
            <a:ext cx="8839200" cy="208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050649"/>
            <a:ext cx="8839199" cy="21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A932CB359BA69489F6C79714204B00E" ma:contentTypeVersion="14" ma:contentTypeDescription="Create a new document." ma:contentTypeScope="" ma:versionID="7ab18044fb5d88f699f2f790d342e0de">
  <xsd:schema xmlns:xsd="http://www.w3.org/2001/XMLSchema" xmlns:xs="http://www.w3.org/2001/XMLSchema" xmlns:p="http://schemas.microsoft.com/office/2006/metadata/properties" xmlns:ns2="804dc4cd-ef2b-4e5c-96d8-e6e32376e6f6" xmlns:ns3="81564390-d73e-4a66-843d-71cd5357285e" targetNamespace="http://schemas.microsoft.com/office/2006/metadata/properties" ma:root="true" ma:fieldsID="17c823f52cdff4deb0e05847c3aa5003" ns2:_="" ns3:_="">
    <xsd:import namespace="804dc4cd-ef2b-4e5c-96d8-e6e32376e6f6"/>
    <xsd:import namespace="81564390-d73e-4a66-843d-71cd5357285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4dc4cd-ef2b-4e5c-96d8-e6e32376e6f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b9370d91-3805-45da-a301-33c56663209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564390-d73e-4a66-843d-71cd5357285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222b963b-d726-43f5-a1ce-3bcd675bad47}" ma:internalName="TaxCatchAll" ma:showField="CatchAllData" ma:web="81564390-d73e-4a66-843d-71cd5357285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1564390-d73e-4a66-843d-71cd5357285e" xsi:nil="true"/>
    <lcf76f155ced4ddcb4097134ff3c332f xmlns="804dc4cd-ef2b-4e5c-96d8-e6e32376e6f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DE0D40A-C1A8-4886-8244-BD53C137D86B}"/>
</file>

<file path=customXml/itemProps2.xml><?xml version="1.0" encoding="utf-8"?>
<ds:datastoreItem xmlns:ds="http://schemas.openxmlformats.org/officeDocument/2006/customXml" ds:itemID="{9AA4E416-5A6E-4B1A-BE57-6FE606D072F5}"/>
</file>

<file path=customXml/itemProps3.xml><?xml version="1.0" encoding="utf-8"?>
<ds:datastoreItem xmlns:ds="http://schemas.openxmlformats.org/officeDocument/2006/customXml" ds:itemID="{40BABFE2-C5C7-4496-88F6-4ABC5CFEDDE8}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0x010100FA932CB359BA69489F6C79714204B00E</vt:lpwstr>
  </property>
</Properties>
</file>